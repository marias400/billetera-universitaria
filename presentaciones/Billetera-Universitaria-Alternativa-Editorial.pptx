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f6c1a4628f477d" /><Relationship Type="http://schemas.openxmlformats.org/officeDocument/2006/relationships/extended-properties" Target="/docProps/app.xml" Id="R9926c80c87d84fac" /><Relationship Type="http://schemas.openxmlformats.org/officeDocument/2006/relationships/officeDocument" Target="/ppt/presentation.xml" Id="Rd4139dd98bdb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7619de0e44695"/>
  </p:sldMasterIdLst>
  <p:notesMasterIdLst>
    <p:notesMasterId xmlns:r="http://schemas.openxmlformats.org/officeDocument/2006/relationships" r:id="R9d1edd8af5984898"/>
  </p:notesMasterIdLst>
  <p:sldIdLst>
    <p:sldId xmlns:r="http://schemas.openxmlformats.org/officeDocument/2006/relationships" id="256" r:id="Rcc60a4f698684886"/>
    <p:sldId xmlns:r="http://schemas.openxmlformats.org/officeDocument/2006/relationships" id="257" r:id="R608a2b45dbac433f"/>
    <p:sldId xmlns:r="http://schemas.openxmlformats.org/officeDocument/2006/relationships" id="258" r:id="Rb1b0de26dcb942db"/>
    <p:sldId xmlns:r="http://schemas.openxmlformats.org/officeDocument/2006/relationships" id="259" r:id="R6700788fa4e84f97"/>
    <p:sldId xmlns:r="http://schemas.openxmlformats.org/officeDocument/2006/relationships" id="260" r:id="R5ea85de86a694efc"/>
    <p:sldId xmlns:r="http://schemas.openxmlformats.org/officeDocument/2006/relationships" id="261" r:id="R65bde030be214e31"/>
    <p:sldId xmlns:r="http://schemas.openxmlformats.org/officeDocument/2006/relationships" id="262" r:id="Receef6734df24f48"/>
    <p:sldId xmlns:r="http://schemas.openxmlformats.org/officeDocument/2006/relationships" id="263" r:id="R386ca2ce91ee482e"/>
    <p:sldId xmlns:r="http://schemas.openxmlformats.org/officeDocument/2006/relationships" id="264" r:id="Rf403046ee29d495d"/>
    <p:sldId xmlns:r="http://schemas.openxmlformats.org/officeDocument/2006/relationships" id="265" r:id="Rd4751923e0424184"/>
    <p:sldId xmlns:r="http://schemas.openxmlformats.org/officeDocument/2006/relationships" id="266" r:id="Rce9de76683764577"/>
    <p:sldId xmlns:r="http://schemas.openxmlformats.org/officeDocument/2006/relationships" id="267" r:id="R124a0a720ce14c02"/>
    <p:sldId xmlns:r="http://schemas.openxmlformats.org/officeDocument/2006/relationships" id="268" r:id="R71e5136a670244f9"/>
    <p:sldId xmlns:r="http://schemas.openxmlformats.org/officeDocument/2006/relationships" id="269" r:id="Rdecfe48e03c043f8"/>
    <p:sldId xmlns:r="http://schemas.openxmlformats.org/officeDocument/2006/relationships" id="270" r:id="R12b6c20db27c4dc2"/>
    <p:sldId xmlns:r="http://schemas.openxmlformats.org/officeDocument/2006/relationships" id="271" r:id="R071e33896c32435c"/>
    <p:sldId xmlns:r="http://schemas.openxmlformats.org/officeDocument/2006/relationships" id="272" r:id="R37cbbd6f9f854c9c"/>
    <p:sldId xmlns:r="http://schemas.openxmlformats.org/officeDocument/2006/relationships" id="273" r:id="Rdbe16215b0fc4cc4"/>
    <p:sldId xmlns:r="http://schemas.openxmlformats.org/officeDocument/2006/relationships" id="274" r:id="R299001cb4d13436e"/>
    <p:sldId xmlns:r="http://schemas.openxmlformats.org/officeDocument/2006/relationships" id="275" r:id="Reb79def5219e4840"/>
    <p:sldId xmlns:r="http://schemas.openxmlformats.org/officeDocument/2006/relationships" id="276" r:id="R57007b2c7dd2439f"/>
    <p:sldId xmlns:r="http://schemas.openxmlformats.org/officeDocument/2006/relationships" id="277" r:id="R992d5a650fae409d"/>
    <p:sldId xmlns:r="http://schemas.openxmlformats.org/officeDocument/2006/relationships" id="278" r:id="Re06b1c39c934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eba1ba2844aef" /><Relationship Type="http://schemas.openxmlformats.org/officeDocument/2006/relationships/slideMaster" Target="/ppt/slideMasters/slideMaster1.xml" Id="Rae17619de0e44695" /><Relationship Type="http://schemas.openxmlformats.org/officeDocument/2006/relationships/notesMaster" Target="/ppt/notesMasters/notesMaster1.xml" Id="R9d1edd8af5984898" /><Relationship Type="http://schemas.openxmlformats.org/officeDocument/2006/relationships/presProps" Target="/ppt/presProps.xml" Id="R959807136dca4429" /><Relationship Type="http://schemas.openxmlformats.org/officeDocument/2006/relationships/tableStyles" Target="/ppt/tableStyles.xml" Id="Rcb29cc24e38a4917" /><Relationship Type="http://schemas.openxmlformats.org/officeDocument/2006/relationships/slide" Target="/ppt/slides/slide1.xml" Id="Rcc60a4f698684886" /><Relationship Type="http://schemas.openxmlformats.org/officeDocument/2006/relationships/slide" Target="/ppt/slides/slide2.xml" Id="R608a2b45dbac433f" /><Relationship Type="http://schemas.openxmlformats.org/officeDocument/2006/relationships/slide" Target="/ppt/slides/slide3.xml" Id="Rb1b0de26dcb942db" /><Relationship Type="http://schemas.openxmlformats.org/officeDocument/2006/relationships/slide" Target="/ppt/slides/slide4.xml" Id="R6700788fa4e84f97" /><Relationship Type="http://schemas.openxmlformats.org/officeDocument/2006/relationships/slide" Target="/ppt/slides/slide5.xml" Id="R5ea85de86a694efc" /><Relationship Type="http://schemas.openxmlformats.org/officeDocument/2006/relationships/slide" Target="/ppt/slides/slide6.xml" Id="R65bde030be214e31" /><Relationship Type="http://schemas.openxmlformats.org/officeDocument/2006/relationships/slide" Target="/ppt/slides/slide7.xml" Id="Receef6734df24f48" /><Relationship Type="http://schemas.openxmlformats.org/officeDocument/2006/relationships/slide" Target="/ppt/slides/slide8.xml" Id="R386ca2ce91ee482e" /><Relationship Type="http://schemas.openxmlformats.org/officeDocument/2006/relationships/slide" Target="/ppt/slides/slide9.xml" Id="Rf403046ee29d495d" /><Relationship Type="http://schemas.openxmlformats.org/officeDocument/2006/relationships/slide" Target="/ppt/slides/slide10.xml" Id="Rd4751923e0424184" /><Relationship Type="http://schemas.openxmlformats.org/officeDocument/2006/relationships/slide" Target="/ppt/slides/slide11.xml" Id="Rce9de76683764577" /><Relationship Type="http://schemas.openxmlformats.org/officeDocument/2006/relationships/slide" Target="/ppt/slides/slide12.xml" Id="R124a0a720ce14c02" /><Relationship Type="http://schemas.openxmlformats.org/officeDocument/2006/relationships/slide" Target="/ppt/slides/slide13.xml" Id="R71e5136a670244f9" /><Relationship Type="http://schemas.openxmlformats.org/officeDocument/2006/relationships/slide" Target="/ppt/slides/slide14.xml" Id="Rdecfe48e03c043f8" /><Relationship Type="http://schemas.openxmlformats.org/officeDocument/2006/relationships/slide" Target="/ppt/slides/slide15.xml" Id="R12b6c20db27c4dc2" /><Relationship Type="http://schemas.openxmlformats.org/officeDocument/2006/relationships/slide" Target="/ppt/slides/slide16.xml" Id="R071e33896c32435c" /><Relationship Type="http://schemas.openxmlformats.org/officeDocument/2006/relationships/slide" Target="/ppt/slides/slide17.xml" Id="R37cbbd6f9f854c9c" /><Relationship Type="http://schemas.openxmlformats.org/officeDocument/2006/relationships/slide" Target="/ppt/slides/slide18.xml" Id="Rdbe16215b0fc4cc4" /><Relationship Type="http://schemas.openxmlformats.org/officeDocument/2006/relationships/slide" Target="/ppt/slides/slide19.xml" Id="R299001cb4d13436e" /><Relationship Type="http://schemas.openxmlformats.org/officeDocument/2006/relationships/slide" Target="/ppt/slides/slide20.xml" Id="Reb79def5219e4840" /><Relationship Type="http://schemas.openxmlformats.org/officeDocument/2006/relationships/slide" Target="/ppt/slides/slide21.xml" Id="R57007b2c7dd2439f" /><Relationship Type="http://schemas.openxmlformats.org/officeDocument/2006/relationships/slide" Target="/ppt/slides/slide22.xml" Id="R992d5a650fae409d" /><Relationship Type="http://schemas.openxmlformats.org/officeDocument/2006/relationships/slide" Target="/ppt/slides/slide23.xml" Id="Re06b1c39c934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6de2a12e2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a27b20d43483a" /><Relationship Type="http://schemas.openxmlformats.org/officeDocument/2006/relationships/notesMaster" Target="/ppt/notesMasters/notesMaster1.xml" Id="Rabaa65db851a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d522263724c3a" /><Relationship Type="http://schemas.openxmlformats.org/officeDocument/2006/relationships/notesMaster" Target="/ppt/notesMasters/notesMaster1.xml" Id="Rb048ad0528fb4d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e47954a7ab44e2" /><Relationship Type="http://schemas.openxmlformats.org/officeDocument/2006/relationships/notesMaster" Target="/ppt/notesMasters/notesMaster1.xml" Id="R1fcbc3e946d14e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7c8493e6e450e" /><Relationship Type="http://schemas.openxmlformats.org/officeDocument/2006/relationships/notesMaster" Target="/ppt/notesMasters/notesMaster1.xml" Id="R90180f4184b04a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1db2fe34c4d10" /><Relationship Type="http://schemas.openxmlformats.org/officeDocument/2006/relationships/notesMaster" Target="/ppt/notesMasters/notesMaster1.xml" Id="R5f4bfedde4fd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cbb1b994d345d1" /><Relationship Type="http://schemas.openxmlformats.org/officeDocument/2006/relationships/notesMaster" Target="/ppt/notesMasters/notesMaster1.xml" Id="R729f0790a7a244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6f151f12804b82" /><Relationship Type="http://schemas.openxmlformats.org/officeDocument/2006/relationships/notesMaster" Target="/ppt/notesMasters/notesMaster1.xml" Id="R87807465ed9b48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1f56c3de124110" /><Relationship Type="http://schemas.openxmlformats.org/officeDocument/2006/relationships/notesMaster" Target="/ppt/notesMasters/notesMaster1.xml" Id="Rfb16b22058884c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795be07d804011" /><Relationship Type="http://schemas.openxmlformats.org/officeDocument/2006/relationships/notesMaster" Target="/ppt/notesMasters/notesMaster1.xml" Id="Rb5cab40cc8d645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dec60c4ad4475f" /><Relationship Type="http://schemas.openxmlformats.org/officeDocument/2006/relationships/notesMaster" Target="/ppt/notesMasters/notesMaster1.xml" Id="R8d760431bad349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aefdb999f54fa5" /><Relationship Type="http://schemas.openxmlformats.org/officeDocument/2006/relationships/notesMaster" Target="/ppt/notesMasters/notesMaster1.xml" Id="R2b8a5bd8bb9449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6b0317ed9a4e62" /><Relationship Type="http://schemas.openxmlformats.org/officeDocument/2006/relationships/notesMaster" Target="/ppt/notesMasters/notesMaster1.xml" Id="R67ff14f638fd46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5841ffa28245f8" /><Relationship Type="http://schemas.openxmlformats.org/officeDocument/2006/relationships/notesMaster" Target="/ppt/notesMasters/notesMaster1.xml" Id="R38bb9b92db6a43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33c4c9da54491d" /><Relationship Type="http://schemas.openxmlformats.org/officeDocument/2006/relationships/notesMaster" Target="/ppt/notesMasters/notesMaster1.xml" Id="Rf0122e053b8a49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53e2f5fe784f5b" /><Relationship Type="http://schemas.openxmlformats.org/officeDocument/2006/relationships/notesMaster" Target="/ppt/notesMasters/notesMaster1.xml" Id="Radeed3280dbf47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3796287e2c42b0" /><Relationship Type="http://schemas.openxmlformats.org/officeDocument/2006/relationships/notesMaster" Target="/ppt/notesMasters/notesMaster1.xml" Id="R405c175ca1b64c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9f2ea018f34d46" /><Relationship Type="http://schemas.openxmlformats.org/officeDocument/2006/relationships/notesMaster" Target="/ppt/notesMasters/notesMaster1.xml" Id="R20831d9ad67b44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75dd8dc6554d7f" /><Relationship Type="http://schemas.openxmlformats.org/officeDocument/2006/relationships/notesMaster" Target="/ppt/notesMasters/notesMaster1.xml" Id="Rd48f881c1d0b4a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10177fb8d344ce" /><Relationship Type="http://schemas.openxmlformats.org/officeDocument/2006/relationships/notesMaster" Target="/ppt/notesMasters/notesMaster1.xml" Id="Rb2f7905c0f6e47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3bade4e74745bd" /><Relationship Type="http://schemas.openxmlformats.org/officeDocument/2006/relationships/notesMaster" Target="/ppt/notesMasters/notesMaster1.xml" Id="R76ce45d0f81a4a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41dd3465e349b8" /><Relationship Type="http://schemas.openxmlformats.org/officeDocument/2006/relationships/notesMaster" Target="/ppt/notesMasters/notesMaster1.xml" Id="R65d020fb79414a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b2c0b051434931" /><Relationship Type="http://schemas.openxmlformats.org/officeDocument/2006/relationships/notesMaster" Target="/ppt/notesMasters/notesMaster1.xml" Id="R58ecbb03bdbe44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9e8402576a4724" /><Relationship Type="http://schemas.openxmlformats.org/officeDocument/2006/relationships/notesMaster" Target="/ppt/notesMasters/notesMaster1.xml" Id="R087a2abbb9e746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editorial. Presentar título, carrera e integrantes. La alternativa visual usa papel cálido, tinta oscura y acento naranja/azul.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Motivar el problema con un ejemplo: para entrar al gimnasio se necesita un estado vigente, no todo el historial académico.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la representación visual de la credencial verificable. Una firma válida no responde por sí sola si fue revocada después.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actores y atribuciones. La identidad real de cada persona no se valida biométricamente en este prototipo.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de izquierda a derecha. La credencial se entrega mediante un código temporal; la presentación requiere consentimiento y la API comprueba la firma y el estado.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tecnologías y límites. PWA, QR, IndexedDB, Web Crypto, Fastify y SQLite. “Sin Internet” significa dentro de la LAN; no es verificación completamente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Hitos históricos breves. Fuentes primarias citadas en la diapositiva técnica: Diffie–Hellman (1976), Miller y Koblitz (1985), RFC 8032 (2017).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 que el prototipo firma credenciales, pero deja los claims legibles. HTTPS protege la comunicación durante el transporte, que es una capa distinta.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diferencia frente al cifrado asimétrico. La privada crea firma; la clave pública verifica. La firma no prueba que la identidad civil esté correctamente enrolada.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Orientación: Ed25519 es una instancia de EdDSA descrita en RFC 8032. La firma se codifica como R||S. La API del proyecto delega la aritmética a una biblioteca criptográfica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paso a paso. B es el punto base y L el orden del subgrupo. a es un escalar secreto derivado de la semilla; A=[a]B es la clave pública. r se deriva determinísticamente de prefix y M con SHA-512, R=[r]B. k=SHA-512(encode(R)||encode(A)||M) mod L. S=(r+k*a) mod L. La firma es R||S. Al verificar, se comprueba [S]B=R+[k]A. Es una vista simplificada; RFC 8032 incluye codificación y validación de puntos. M sigue siendo legible.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de adulteración: si cambia la nota firmada, cambia el desafío k y falla la ecuación. Una firma válida no significa estado vigente, ni identidad humana comprobada.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son dos pares independientes. La billetera guarda credencial y clave de titular en IndexedDB. Para producción convendría una clave no exportable protegida por hardware y enrolamiento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ejemplo representa la función canonicalize de server/index.ts. La firma se calcula sobre una representación reproducible; los campos y el orden deben corresponder entre emisor y verificador.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código real de server/index.ts. La llamada de node:crypto firma los bytes canonicalizados con la clave privada del emisor; la firma se codifica en base64url y se adjunta como proof. No cifra el payload.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verificación debe reconstruir los mismos bytes, usar clave pública confiable y validar la firma. Luego el prototipo consulta estado y revocación en 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área emisora define tipo, titular, claims y fechas. La nota forma parte de los datos firmados: cambiarla invalida el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estudiante escanea QR de entrega, verifica la firma local y guarda la credencial en IndexedDB. Cuando llega una solicitud, revisa su detalle y decide. La firma no cifra los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el QR de solicitud del QR de entrega. El identificador es aleatorio, temporal y de un solo uso; la credencial se presenta solo tras el consentimiento.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API abre una sesión temporal. El teléfono firma un desafío asociado al titular. La base impide duplicados por sesión. Esto no prueba ubicación física ni evita préstamo de teléfono o colusión.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prototipo depende de API local para consultar revocación. Para operación offline se necesita una clave verificadora confiable y lista de revocación firmada, con política de frescura.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Preparar red local, API, permisos de cámara y códigos QR. Tener un plan alternativo si se pierde conexión.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Cierre. Recapitular: el emisor firma, el estudiante controla la presentación y el verificador valida la firma y consulta vigencia.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33239ee7143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c0089d52e4c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f97487f194e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b8f38747646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17bcab6dd45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637e8f6d6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BBC426-1E30-41FC-9F84-6ACAFAFC1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5550C7-A627-4CEA-9EB6-E8B373F1F6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0BEB66-E1BC-4218-A15A-03C3923A2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0473FB-28BF-46FD-9F44-A4C26D53F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6A0B0B-2E94-4F6D-8DB0-3015DA563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A33B8F-CA44-40D6-AA33-7435F9DCAE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1375DC-EE6B-4FEF-B9BA-A81E25EE4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77B1CA-0102-436F-9FF2-1CF251828A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F9E21A-9183-40D3-AE94-78871AEF1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BF8A96-D899-42BF-86C8-FE851D7887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5a083434374d6f" /><Relationship Type="http://schemas.openxmlformats.org/officeDocument/2006/relationships/slideLayout" Target="/ppt/slideLayouts/slideLayout1.xml" Id="R442ba80794784d4c" /><Relationship Type="http://schemas.openxmlformats.org/officeDocument/2006/relationships/slideLayout" Target="/ppt/slideLayouts/slideLayout2.xml" Id="Rbc765fdf3abc4f0c" /><Relationship Type="http://schemas.openxmlformats.org/officeDocument/2006/relationships/slideLayout" Target="/ppt/slideLayouts/slideLayout3.xml" Id="R4f7296059b8d4cc9" /><Relationship Type="http://schemas.openxmlformats.org/officeDocument/2006/relationships/slideLayout" Target="/ppt/slideLayouts/slideLayout4.xml" Id="R5f5a6eb299234585" /><Relationship Type="http://schemas.openxmlformats.org/officeDocument/2006/relationships/slideLayout" Target="/ppt/slideLayouts/slideLayout5.xml" Id="R6022d349bd5e41b0" /><Relationship Type="http://schemas.openxmlformats.org/officeDocument/2006/relationships/slideLayout" Target="/ppt/slideLayouts/slideLayout6.xml" Id="R5523e3cc3f0248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2ba80794784d4c"/>
    <p:sldLayoutId xmlns:r="http://schemas.openxmlformats.org/officeDocument/2006/relationships" id="2147483650" r:id="Rbc765fdf3abc4f0c"/>
    <p:sldLayoutId xmlns:r="http://schemas.openxmlformats.org/officeDocument/2006/relationships" id="2147483651" r:id="R4f7296059b8d4cc9"/>
    <p:sldLayoutId xmlns:r="http://schemas.openxmlformats.org/officeDocument/2006/relationships" id="2147483652" r:id="R5f5a6eb299234585"/>
    <p:sldLayoutId xmlns:r="http://schemas.openxmlformats.org/officeDocument/2006/relationships" id="2147483653" r:id="R6022d349bd5e41b0"/>
    <p:sldLayoutId xmlns:r="http://schemas.openxmlformats.org/officeDocument/2006/relationships" id="2147483654" r:id="R5523e3cc3f0248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9e330d8774859" /><Relationship Type="http://schemas.openxmlformats.org/officeDocument/2006/relationships/image" Target="/ppt/media/image.png" Id="R17e876d2b56e44da" /><Relationship Type="http://schemas.openxmlformats.org/officeDocument/2006/relationships/notesSlide" Target="/ppt/notesSlides/notesSlide1.xml" Id="Rf830490407d245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c02db68f64c93" /><Relationship Type="http://schemas.openxmlformats.org/officeDocument/2006/relationships/notesSlide" Target="/ppt/notesSlides/notesSlide2.xml" Id="R9439dd110877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f1d02803d4b43" /><Relationship Type="http://schemas.openxmlformats.org/officeDocument/2006/relationships/notesSlide" Target="/ppt/notesSlides/notesSlide3.xml" Id="R1a20fc50da80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512498d10469d" /><Relationship Type="http://schemas.openxmlformats.org/officeDocument/2006/relationships/notesSlide" Target="/ppt/notesSlides/notesSlide4.xml" Id="Rd156fa2d7f094f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85917c2574726" /><Relationship Type="http://schemas.openxmlformats.org/officeDocument/2006/relationships/notesSlide" Target="/ppt/notesSlides/notesSlide5.xml" Id="R36a0f0688c7f42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f42e365884634" /><Relationship Type="http://schemas.openxmlformats.org/officeDocument/2006/relationships/notesSlide" Target="/ppt/notesSlides/notesSlide6.xml" Id="Re7f7b2153488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56ee53d4a47f8" /><Relationship Type="http://schemas.openxmlformats.org/officeDocument/2006/relationships/notesSlide" Target="/ppt/notesSlides/notesSlide7.xml" Id="Raafeef6d6db140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bcbdb91534e2e" /><Relationship Type="http://schemas.openxmlformats.org/officeDocument/2006/relationships/notesSlide" Target="/ppt/notesSlides/notesSlide8.xml" Id="R83c4884919bf47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e89e3d48f460e" /><Relationship Type="http://schemas.openxmlformats.org/officeDocument/2006/relationships/notesSlide" Target="/ppt/notesSlides/notesSlide9.xml" Id="Rca502b2a8c634c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361ad83d6443f" /><Relationship Type="http://schemas.openxmlformats.org/officeDocument/2006/relationships/notesSlide" Target="/ppt/notesSlides/notesSlide10.xml" Id="Re227ecce891544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707233a4c46e7" /><Relationship Type="http://schemas.openxmlformats.org/officeDocument/2006/relationships/notesSlide" Target="/ppt/notesSlides/notesSlide11.xml" Id="R0b7c42011ae5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a69df9ae24935" /><Relationship Type="http://schemas.openxmlformats.org/officeDocument/2006/relationships/notesSlide" Target="/ppt/notesSlides/notesSlide12.xml" Id="Rd6712bacbdb14c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c9f7b973d48fe" /><Relationship Type="http://schemas.openxmlformats.org/officeDocument/2006/relationships/notesSlide" Target="/ppt/notesSlides/notesSlide13.xml" Id="Re49fcb59bc3e4f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f2eca302047a3" /><Relationship Type="http://schemas.openxmlformats.org/officeDocument/2006/relationships/notesSlide" Target="/ppt/notesSlides/notesSlide14.xml" Id="R2852d78dfcfd45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e41aa9f8946a9" /><Relationship Type="http://schemas.openxmlformats.org/officeDocument/2006/relationships/notesSlide" Target="/ppt/notesSlides/notesSlide15.xml" Id="R57906ee3d14341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736dd499c407e" /><Relationship Type="http://schemas.openxmlformats.org/officeDocument/2006/relationships/notesSlide" Target="/ppt/notesSlides/notesSlide16.xml" Id="R868f2b4e0e6042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33a30c4c04218" /><Relationship Type="http://schemas.openxmlformats.org/officeDocument/2006/relationships/notesSlide" Target="/ppt/notesSlides/notesSlide17.xml" Id="R745c78408a7b47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605b25ebc49de" /><Relationship Type="http://schemas.openxmlformats.org/officeDocument/2006/relationships/notesSlide" Target="/ppt/notesSlides/notesSlide18.xml" Id="Refaf6de2f15d47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d0a4db7dc4a7d" /><Relationship Type="http://schemas.openxmlformats.org/officeDocument/2006/relationships/notesSlide" Target="/ppt/notesSlides/notesSlide19.xml" Id="R42d128812b224b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2bc0fd5654073" /><Relationship Type="http://schemas.openxmlformats.org/officeDocument/2006/relationships/notesSlide" Target="/ppt/notesSlides/notesSlide20.xml" Id="R9197ff8ade4748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1027002f44644" /><Relationship Type="http://schemas.openxmlformats.org/officeDocument/2006/relationships/notesSlide" Target="/ppt/notesSlides/notesSlide21.xml" Id="R67ff049114f847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a0935b5524529" /><Relationship Type="http://schemas.openxmlformats.org/officeDocument/2006/relationships/notesSlide" Target="/ppt/notesSlides/notesSlide22.xml" Id="Rab136c5ae4d94d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f147516954b38" /><Relationship Type="http://schemas.openxmlformats.org/officeDocument/2006/relationships/notesSlide" Target="/ppt/notesSlides/notesSlide23.xml" Id="R87ec9448e53c40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B99F8-8209-451C-904A-D28967F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9ED6B-5FC3-4D9F-BAE7-AFEEBF7F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SEMINARIO DE ACTUALIZACIÓN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5C905-ECD7-4F6C-B656-99E3A274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Billetera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4A4E3-3155-4D15-8031-44CC5E48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universitaria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C8285-14C8-4A06-B4C5-CCE9551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verificable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B5A89-CEF2-4804-BB41-B6E31DE4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Credenciales académicas firmadas</a:t>
            </a:r>
          </a:p>
          <a:p xmlns:a="http://schemas.openxmlformats.org/drawingml/2006/main">
            <a:pPr algn="l">
              <a:defRPr sz="18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y control del estudiante al presentarlas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5CEC0-ABD1-43EC-BAF0-D59E1AD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3900" y="5086350"/>
            <a:ext cx="584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7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1C79F-52E0-4898-9CFF-32AA305E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Ingeniería en Sistemas de Información · UNLaR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4AE7-4EE1-4A95-9B64-A1039370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Mariano Arias Simone</a:t>
            </a:r>
          </a:p>
          <a:p xmlns:a="http://schemas.openxmlformats.org/drawingml/2006/main">
            <a: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Nahuel Peralta Herrera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4A0FF-0D11-49C5-AB7A-0BE12EF52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876d2b56e44da"/>
          <a:stretch xmlns:a="http://schemas.openxmlformats.org/drawingml/2006/main"/>
        </p:blipFill>
        <p:spPr>
          <a:xfrm xmlns:a="http://schemas.openxmlformats.org/drawingml/2006/main">
            <a:off x="7620000" y="1352550"/>
            <a:ext cx="37147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85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41D99-D7D3-4F0B-B2CA-4554FA71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01 ·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602CC-90B6-4988-9780-79B0B02C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Una credencial debe poder probarse sin volver a pedir el documento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F0E86-54A2-4A11-B8DE-995A700C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1A670-79C6-4876-94E7-EBB40F08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6FF6E-5314-48E7-97BF-45BDAAD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887"/>
          </a:bodyPr>
          <a:lstStyle xmlns:a="http://schemas.openxmlformats.org/drawingml/2006/main">
            <a:def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Hoy, quien necesita validar un dato suele recibir un archivo y confiar en su apariencia.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B91A4-0B53-4776-B36A-D32F312A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3900" y="3000375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6FF73-5288-4F80-ADCE-F0FB646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REENVÍO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F2250-42DF-4283-8CBC-C4C09710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El documento cambia de manos y cuesta saber si sigue vigente.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1121E-5199-4CCC-A502-E4690F2F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86300" y="3000375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00A00-7E1C-4916-8AD0-76406150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EXCESO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8DC2C-26E5-4002-B4A5-DC14658C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Se comparte más información de la necesaria para una consulta.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936F9-DDB2-478A-A12D-378CF5DE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48700" y="3000375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AC5DD-1E28-4003-9B5F-2D407D6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14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DUDA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F8C20-E7AC-4BEE-BA89-B9F9FBD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La persona que recibe el archivo debe confiar en quien lo entrega.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2E938-522F-449F-A85E-65187C37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La pregunta de diseño: ¿cómo comprobar un atributo sin depender de una captura?</a:t>
            </a:r>
          </a:p>
        </p:txBody>
      </p:sp>
    </p:spTree>
    <p:extLst>
      <p:ext uri="{BB962C8B-B14F-4D97-AF65-F5344CB8AC3E}">
        <p14:creationId xmlns:p14="http://schemas.microsoft.com/office/powerpoint/2010/main" val="1830777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BF214-AB31-4250-9889-021FDC8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02 · IDEA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ECF9E-4B8F-4946-BB11-89E49C78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No alcanza con mostrar un documento bonito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A053-3C19-4497-9B9C-0E15BFC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39522-1313-4EE4-9801-7D7EFDF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CA357-EA45-40BA-BA99-83CAD9A7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Una imagen muestra texto. Una prueba permite comprobar de dónde viene y si cambió.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1C68D-27D1-46EB-B63C-37F3A30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DOCUMENTO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E7561-0638-4E5E-9591-D2ED93C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238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BAB6C-6412-40A6-A717-A2F00D9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“Regularidad: vigente”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5D55D-75A1-4D67-9C3F-BF9FF481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¿Quién lo emitió? ¿Sigue vigente?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9AC5E-67F7-448E-A24C-BD6CFE22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48100"/>
            <a:ext cx="762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1722B-673D-4013-B85D-50EF0461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CREDENCIAL FIRMADA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E4227-7528-4DD1-BD41-34DE8BB0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861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C638A-CC89-4643-A745-492003F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96821-2EA1-4BD2-BCF1-AD8A741F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Firma digital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E58F5-1065-4A36-A774-01024FDF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2650" y="3990975"/>
            <a:ext cx="432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57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0AD73-530D-4B3F-9BEB-8D074746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814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La firma permite detectar alteraciones.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4F2A3-83F8-4CC9-8D83-C6774774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firma comprueba datos y clave emisora; la vigencia actual se consulta aparte.</a:t>
            </a:r>
          </a:p>
        </p:txBody>
      </p:sp>
    </p:spTree>
    <p:extLst>
      <p:ext uri="{BB962C8B-B14F-4D97-AF65-F5344CB8AC3E}">
        <p14:creationId xmlns:p14="http://schemas.microsoft.com/office/powerpoint/2010/main" val="818244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B4EB3-2888-4BA8-84CC-0134B7A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03 · ACTORES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EED9C-9113-4FE0-BA0E-EFE16FC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Tres roles distintos intervienen en una presentación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BB3F2-8C57-43A1-97D2-B098E5A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84ECA-AC45-4C37-9CB0-9ABA297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D34E2-B1BD-46FF-AEC2-797A7E5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7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B8857-3003-495B-A2FA-67A2F742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" y="31051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F56A6-AF1B-48D6-B7E1-E5A6FF91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INSTITUCIÓN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E1AB6-A4AD-4357-92FC-AE84738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Emite la credencial y custodia su clave privada.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CDF24-7E30-44D1-9B41-B113A6F5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95500"/>
            <a:ext cx="87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7ABF3-A570-4F88-B451-75B3B863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00575" y="31051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6E148-471F-480D-AFD0-586ACFF9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956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ESTUDIANTE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ED848-6AC4-4AF6-9D25-F66F3DF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81425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Guarda la credencial y decide cuándo compartirla.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C3A0C-50AF-45CE-AEEB-6C6A1062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87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5FC77-FE90-4634-BD67-138875CB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8200" y="31051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7C67D-04B8-4F64-981B-FD779127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VERIFICADOR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FD09F-041D-4F1F-ACF0-B7C76961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81425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Solicita un dato concreto y revisa la respuesta.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154E2-86A1-42D9-B021-45815219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El estudiante conserva la decisión de presentar o rechazar el pedido.</a:t>
            </a:r>
          </a:p>
        </p:txBody>
      </p:sp>
    </p:spTree>
    <p:extLst>
      <p:ext uri="{BB962C8B-B14F-4D97-AF65-F5344CB8AC3E}">
        <p14:creationId xmlns:p14="http://schemas.microsoft.com/office/powerpoint/2010/main" val="1967568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E928A-FFD8-4B14-8B22-BF205430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04 · RECORRIDO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2246F-0CC1-4490-AC37-1CAC9AD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credencial queda en el teléfono; la prueba responde al pedido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5F687-0662-4412-9377-373B1E6E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17CC3-EED4-4031-8B0F-F9C77E9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305E3-F787-458F-9E6C-AC74DE7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A534E-0CA9-406B-8919-85BF26BE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9D530-BC31-4CD1-9D4E-80C50D9B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EMITIR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D10CC-DF3E-4887-9778-72A79E5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33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Institución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0A17D-F17A-47A2-9934-9FF5F86B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95625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84B3E-4608-41E3-B99E-D8A6854B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3A222-1E7F-4224-BAB5-493C0F76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A68F7-64B4-4F20-8E11-6BD035C7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B39A-1289-4C28-8E10-FDF75A2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33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Billetera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2DF6E-B845-40F5-8C2D-D1F6792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95625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5B3CD-0039-4450-AC94-3826721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8E4FF-1433-4387-AD08-849DE687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2A013-6EE4-4DD7-8E5F-6E8D5087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90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PEDIR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756C8-C0D5-4245-B367-B2EADC44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33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QR temporal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2C4CA-870C-43C9-A1A9-2DDE4176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117CF-267D-45CB-93B3-7D4B568F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9B189-8F6E-4F2A-AD31-DB393D65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7497E-4A69-4B64-A0AF-556C0D2B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CONSENTIR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0041F-0E5D-448F-95C2-7C956B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Estudiante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09AD2-B256-4C88-920B-E8B4A5EE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95625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C199D-D845-4561-BEF7-3D27629F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5CC09F-5A65-4D64-9E7F-BC7AFAE4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F5CAF-3248-4298-8127-4C13CECA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90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0F096-343C-4CD4-8890-447F495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33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337A0-CCC0-4967-BBA9-F6B96AD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1970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En el QR solo va el identificador temporal del pedido, no la nota.</a:t>
            </a:r>
          </a:p>
        </p:txBody>
      </p:sp>
    </p:spTree>
    <p:extLst>
      <p:ext uri="{BB962C8B-B14F-4D97-AF65-F5344CB8AC3E}">
        <p14:creationId xmlns:p14="http://schemas.microsoft.com/office/powerpoint/2010/main" val="1893008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289DD-ECB0-49A9-A38A-92BD5CE4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05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E5E9F-6782-405D-A884-E0451EF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Una PWA conecta los teléfonos con una API en la Mac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9BB79-A0B2-466D-A432-6F28324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E110-04FF-456F-95E9-6886EA8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0BFAC-EC18-4B62-8D48-DBC1968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08ABF-411C-49FC-8A6A-FFE60A8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Cámara · IndexedDB</a:t>
            </a:r>
          </a:p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Web Crypto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474D6-F1F6-4671-BF3B-AC811D1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914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FEA2B-4BEE-4D3F-9788-D1E7657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1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HTTPS / 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32A88-1ADD-43C0-97C8-693A870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PWA 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947F7-0BD6-475C-83BF-E2E399A3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22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Interfaz común</a:t>
            </a:r>
          </a:p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por 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B61DB-2E3F-4BFA-B4FB-AA39E666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914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FAEE7-793C-4EAB-A15E-5043A45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1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23B4C-1FD7-451A-9D44-BC43C2B4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API FASTIFY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D64DD-81F5-49C9-BE32-75C8E89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Reglas · firma</a:t>
            </a:r>
          </a:p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verificación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0233E-FD15-441A-A3A8-DF9CA03E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53575" y="3752850"/>
            <a:ext cx="952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57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5574B-B7C5-4E3E-8901-C938FF6B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E79A4-8B23-4FA9-9790-95380EA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estado y revocaciones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74EF0-B0FE-482F-9597-2CCAAAE0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Sin Internet puede operar en la red local. La API sigue siendo necesaria.</a:t>
            </a:r>
          </a:p>
        </p:txBody>
      </p:sp>
    </p:spTree>
    <p:extLst>
      <p:ext uri="{BB962C8B-B14F-4D97-AF65-F5344CB8AC3E}">
        <p14:creationId xmlns:p14="http://schemas.microsoft.com/office/powerpoint/2010/main" val="1843925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0274B-4E6B-4CC2-8EA7-981669D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06 · DE DÓNDE VIENE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2AB5-6BC3-48FD-9D5B-EF7762C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Tres hitos explican el salto de Ed25519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5D8D0-C4BA-4473-A026-A736534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6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1BB38-C883-47B5-B377-C872ABCE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8EBF3-0A68-40A2-B2EA-9820428D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7750" y="3571875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6C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0E6DF-82E5-40BC-9B36-338D318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1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ABEE5-40A0-49AF-A8E4-93CBDEC5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1976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34E91-F03E-4114-AB7C-BDD8D21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pública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138C-4EFE-454F-9653-CB02B1F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147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CDD3"/>
                </a:solidFill>
                <a:latin typeface="Aptos"/>
                <a:ea typeface="Aptos"/>
                <a:cs typeface="Aptos"/>
              </a:rPr>
              <a:t>Diffie y Hellman abren el modelo de claves relacionadas.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6C984-58D7-4ADF-B44B-2BBFE5AB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E1AD1-7E56-4F7B-AFA6-6A184317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1985–1987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51921-A1E1-4C6B-BAD6-C0649D9F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Curvas elípticas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F9B13-8F48-49BA-B9C9-0267FCB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CDD3"/>
                </a:solidFill>
                <a:latin typeface="Aptos"/>
                <a:ea typeface="Aptos"/>
                <a:cs typeface="Aptos"/>
              </a:rPr>
              <a:t>Miller y Koblitz describen su uso en criptografía.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F41A4-9E8E-4F40-BA07-8B32879D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4DB84-0FB1-4427-B4D9-EDCCAD84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0C75E"/>
                </a:solidFill>
                <a:latin typeface="Aptos"/>
                <a:ea typeface="Aptos"/>
                <a:cs typeface="Aptos"/>
              </a:rPr>
              <a:t>2011 / 2017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D196E-5AB1-4BF1-9BC5-922C0C0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Ed25519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8CAB0-64B9-46AF-B15F-3D6CC6E1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147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CDD3"/>
                </a:solidFill>
                <a:latin typeface="Aptos"/>
                <a:ea typeface="Aptos"/>
                <a:cs typeface="Aptos"/>
              </a:rPr>
              <a:t>Propuesta de firma; RFC 8032 documenta EdDSA.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DA5A1-A640-4A44-8E22-1E16DE12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 i="1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C9CDD3"/>
                </a:solidFill>
                <a:latin typeface="Aptos"/>
                <a:ea typeface="Aptos"/>
                <a:cs typeface="Aptos"/>
              </a:rPr>
              <a:t>Hitos para ubicarse, no una historia completa.</a:t>
            </a:r>
          </a:p>
        </p:txBody>
      </p:sp>
    </p:spTree>
    <p:extLst>
      <p:ext uri="{BB962C8B-B14F-4D97-AF65-F5344CB8AC3E}">
        <p14:creationId xmlns:p14="http://schemas.microsoft.com/office/powerpoint/2010/main" val="728517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468B7-A18F-41F4-BAEA-3E633F33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07 · CONCEPTOS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ECDBD-1E01-44AD-8157-536DD6AB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Cifrado, hash y firma responden preguntas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EB6F-42D1-4888-9263-344FD10A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AB746-1BB4-49C2-A06B-268241BD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3013D-5FCC-4537-A7CF-5440822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¿QUIÉN PUEDE LEER?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FEBD2-32CE-4116-B6D2-E45D359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CIFRADO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15B6-3B2A-486E-A509-19DC00A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" y="3438525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E161B-6800-4CBC-AB02-2D6D3AB1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71A"/>
                </a:solidFill>
                <a:latin typeface="Aptos"/>
                <a:ea typeface="Aptos"/>
                <a:cs typeface="Aptos"/>
              </a:rPr>
              <a:t>Oculta el contenido a quienes no tienen la clave.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72D82-FAB4-4884-AB66-3A87850A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38375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¿CAMBIÓ EL CONTENIDO?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0D9DC-A27C-4835-924B-9CBF86F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717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F26BC-CB71-4082-93E8-6CBCAD4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00575" y="3438525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97648-EDD4-4B52-9E5C-65554BD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242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71A"/>
                </a:solidFill>
                <a:latin typeface="Aptos"/>
                <a:ea typeface="Aptos"/>
                <a:cs typeface="Aptos"/>
              </a:rPr>
              <a:t>Resume datos para poder detectar diferencias.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C4CE8-927B-42AE-A998-0469C04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¿QUÉ CLAVE LO FIRMÓ?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47793-43D7-4E8A-AB80-32EAA02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717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FIRMA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6749A-D4CF-4D61-8936-733C3C3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8200" y="3438525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F6D86-B113-4FB8-9A07-7C665587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242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71A"/>
                </a:solidFill>
                <a:latin typeface="Aptos"/>
                <a:ea typeface="Aptos"/>
                <a:cs typeface="Aptos"/>
              </a:rPr>
              <a:t>Vincula el mensaje con una clave privada.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CE6D0-C40E-4B9B-ACCB-ACF93BA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673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Ed25519 firma. No cifra la nota.</a:t>
            </a:r>
          </a:p>
        </p:txBody>
      </p:sp>
    </p:spTree>
    <p:extLst>
      <p:ext uri="{BB962C8B-B14F-4D97-AF65-F5344CB8AC3E}">
        <p14:creationId xmlns:p14="http://schemas.microsoft.com/office/powerpoint/2010/main" val="982949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ECEE4-081E-4CCB-A92C-30FC44EE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08 · CLAVES RELACIONADAS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B00C1-ADFE-417B-B6A5-6B3711A2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Una privada firma; la pública verifica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46991-60D7-40CD-96B5-CE8325E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E8E19-893D-476D-9366-D03315D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13AFC-F06B-4EEB-AC54-63294C2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FIRMA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1B21C-24FA-41BC-A4B1-526AB04F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Clave privada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05883-623F-4A9D-A569-F3C1793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No se comparte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6751D-9F4B-47F3-82DB-362AECDC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76550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DA12E-E6FA-48B7-834A-B2E3CDC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431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mensaje + firma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58F82-B848-4886-844D-B8BE9C42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86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COMPRUEBA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82323-2F09-4A89-9C94-55394BC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76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Clave pública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F1A40-3127-4194-90CC-E685D05A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71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Se distribuye al verificador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6DDC8-B2E4-49C4-8CF4-D148FFC9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032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EF65F-F2F9-4963-AE4C-2CA437F1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VÁLIDA / 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262C5-D53E-484E-B2A0-DE42452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6800" y="4162425"/>
            <a:ext cx="10029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013A8-94F6-4444-B2EA-08D1E742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910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firma no oculta el mensaje: protege integridad y permite validar su origen criptográfico.</a:t>
            </a:r>
          </a:p>
        </p:txBody>
      </p:sp>
    </p:spTree>
    <p:extLst>
      <p:ext uri="{BB962C8B-B14F-4D97-AF65-F5344CB8AC3E}">
        <p14:creationId xmlns:p14="http://schemas.microsoft.com/office/powerpoint/2010/main" val="10022928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B417B-4B1B-4E3C-B3F4-0B30B0C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09 · ED25519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D0A42-0287-41A9-871A-B78B074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algoritmo firma bytes y devuelve una pareja (R, 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37C85-3397-4EF0-BCF6-F57A26C3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6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D9169-E4C0-419A-B432-558D1E3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309AA-80FF-4529-8431-F1A822A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MENSAJE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D8F1B-4CE6-4377-9A62-9A670AA4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“Nota: 8”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CFE88-77D1-4E0D-804A-ED0BE4C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71775"/>
            <a:ext cx="857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0FBBF-653A-4323-8041-D67E0989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431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C75E"/>
                </a:solidFill>
                <a:latin typeface="Aptos"/>
                <a:ea typeface="Aptos"/>
                <a:cs typeface="Aptos"/>
              </a:rPr>
              <a:t>Ed25519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2EFF8-C0A3-4A95-85CB-3AC4F75A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857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6F515-487F-4521-BA37-59E1D58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BD258-62AA-4E07-B6C8-C86806A0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57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  + 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F3FDC-64E6-447F-B521-3EFE83F9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" y="3705225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D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3FFE8-66F8-497D-BF8C-165833B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Aun conociendo el mensaje y la clave pública, producir una firma nueva requiere la privada.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6E03A-0494-4753-AA97-3EFBA8E9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C7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C75E"/>
                </a:solidFill>
                <a:latin typeface="Aptos"/>
                <a:ea typeface="Aptos"/>
                <a:cs typeface="Aptos"/>
              </a:rPr>
              <a:t>En el proyecto, Node.js llama a Ed25519 con node:crypto.</a:t>
            </a:r>
          </a:p>
        </p:txBody>
      </p:sp>
    </p:spTree>
    <p:extLst>
      <p:ext uri="{BB962C8B-B14F-4D97-AF65-F5344CB8AC3E}">
        <p14:creationId xmlns:p14="http://schemas.microsoft.com/office/powerpoint/2010/main" val="488600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AA1CA-8798-4534-8A7B-3F1DA44C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10 · ECUACIONES DE ED25519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4DD5C-51EB-49CA-9DFE-3462AAC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Ed25519 combina secreto, nonce y mensaje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F3340-3A67-4982-AAD8-D9F19BC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7FB6B-9923-4984-8438-2278526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7C7E4-75C7-4887-B574-27C088B7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FIRMAR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B5A68-0C6C-46F2-9857-66662003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a ·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029A9-5620-4A9A-8A64-186EB03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3982B-B137-4DE7-87A0-B96CF3F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0DB86-4F59-47C8-B668-9696EEC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479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A es pública; a permanece secreta.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2B8A2-D6AB-4B98-9904-97F55BCB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prefix ‖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3E24D-1B3D-4F67-861E-A4DFA264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secreto + mensaje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50C7F-D6AA-4AFB-A0A7-7C9B7B89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670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DA045-A3F1-4EC9-B268-39361BE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09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H = SHA-512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92F29-9593-4313-8DC9-0D8B7805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433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mezcla los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24C36-5BD5-4DA8-80E1-CA377D1B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068FD-7636-407E-9BEF-88F99349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9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mod L → 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49D89-E027-48DC-92C2-BAAF3897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nonce determinista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C952D-BAA3-4156-B5AF-1165AF6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089B3-19D5-4B89-B468-4D1CC46C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09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R = r ·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A3F30-C7A5-4392-A2A2-25A910CC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433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punto efímero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5CADC-D083-428E-A881-F7458FD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" y="4057650"/>
            <a:ext cx="7400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20BC8-54B8-4CFD-A10F-166967E7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R ‖ A ‖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9973F-0CBF-4788-92D5-70A75ED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3338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06E8B-2E64-4A2D-B4CC-7A23D879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672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H → 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6CBC3-0EC3-4351-8520-EE6A57C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338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7E38D-0A60-427B-8738-C15E0CA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67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r + k ·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3D28E0-22B0-4756-850B-E59109B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338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50AB7-016A-4618-AFFB-BFD2EA1F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S = (r + k·a) mod 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7C5A8-918D-493E-BE34-6AA6DCB8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34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8DD8A-651A-4126-A5AC-A55D09D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D09DC-4891-4085-8E6B-E8A71C80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 · 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303254-B3DA-4A1D-9623-36B1234E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244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D0C93-EE7E-4FE3-8C10-8B298562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 + k · 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61C2D-728D-4AA5-A823-3164591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720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mismo punto ⇒ firma coherente</a:t>
            </a:r>
          </a:p>
        </p:txBody>
      </p:sp>
    </p:spTree>
    <p:extLst>
      <p:ext uri="{BB962C8B-B14F-4D97-AF65-F5344CB8AC3E}">
        <p14:creationId xmlns:p14="http://schemas.microsoft.com/office/powerpoint/2010/main" val="1210587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CE06F-87B5-4090-8A6C-A9C4291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11 · COMPROBACIÓN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7E226-4F6C-4C12-89EC-F18BD0C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Cambiar un dato rompe la igualdad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F0639-0025-4F7C-AA11-15DA702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FD0F0-197D-4A6C-A4DE-BD6385AC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DC5B8-29FC-4E85-AEBB-027B99E6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NOTA: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9C701-D598-4803-9BD4-7894E721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Firma válida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201B0-137D-438C-B0FC-BA35D1D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81300"/>
            <a:ext cx="809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662A4-23BE-4D22-9F3F-2F8F81D5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812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49971-3A64-4B43-A367-10B8DC91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 ·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D3D3D-D7AA-4B2B-845D-524926C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81275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A7AF0-2C9C-40C9-B772-CA3961E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095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0684D-DC51-4DD9-8ABA-8747877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 + k ·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7C225-BD17-457A-9D22-BEB23C2B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Firma inválida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5841F-B834-4F00-9957-A7E04C95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NOTA: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A69F7-AE39-41B2-A8E0-099F789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05300"/>
            <a:ext cx="809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DE5D6-2E92-4E33-AA72-AE440FE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95725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06FD9-A862-415E-A1D6-18A2DEA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67175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S ·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76EF2-6364-434B-A322-D0CAE9D4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3CDE1-838B-49AA-8676-6EBF043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95725"/>
            <a:ext cx="3095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60593-E8F5-41E8-A4F2-D951DA0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R + k ·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A3B9D-4BD6-4BC0-A2CC-30E7CC1D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clave pública detecta el cambio; no revela ni reconstruye la privada.</a:t>
            </a:r>
          </a:p>
        </p:txBody>
      </p:sp>
    </p:spTree>
    <p:extLst>
      <p:ext uri="{BB962C8B-B14F-4D97-AF65-F5344CB8AC3E}">
        <p14:creationId xmlns:p14="http://schemas.microsoft.com/office/powerpoint/2010/main" val="18914545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898DA-F65C-4271-8BF4-CD4A3309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12 · CLAVES EN ESTE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CCE64-18CD-4E04-BEAA-B2C08698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institución y el estudiante mantienen pares de claves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1AD9D-182E-4792-9E43-73088B1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D96A9-9D42-4799-8592-043DFCF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0C6E9-8D7C-4081-85B3-2AEF36B5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1050" y="2190750"/>
            <a:ext cx="4524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1585E-5C99-42F7-83C2-55AE70F0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CLAVE DEL EMISOR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4BD03-8F00-4454-9352-75D74EFE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4524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Firma la credencial académica. La API conserva la privada y publica la clave verificadora.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31B4A-016F-4905-844E-E5466C2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17702-8819-4A3F-8B6A-6D0A637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53250" y="2190750"/>
            <a:ext cx="4524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4AA07-C4D7-475F-A167-450DD40D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CLAVE DE LA BILLETERA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51BD-6078-4FC2-B1F9-D0E4867E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57475"/>
            <a:ext cx="4524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El teléfono responde a cada desafío. El servidor la vincula con el titular.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79FC4-4FD0-41FE-B9BE-C08ABDE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3872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Credencial firmada → IndexedDB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96BA8-3BF1-49AB-AEF0-930FC850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387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Clave del titular → almacenamiento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CD686-7DFB-4DED-BB45-336DFB0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816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La firma del emisor demuestra origen; la firma del teléfono demuestra posesión de su clave.</a:t>
            </a:r>
          </a:p>
        </p:txBody>
      </p:sp>
    </p:spTree>
    <p:extLst>
      <p:ext uri="{BB962C8B-B14F-4D97-AF65-F5344CB8AC3E}">
        <p14:creationId xmlns:p14="http://schemas.microsoft.com/office/powerpoint/2010/main" val="13071518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9A1E7-F7C8-4A07-9E12-D464AFE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13 · IMPLEMENTACIÓN · INTEGRIDAD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A886C-0634-461A-8177-CAA52E6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008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Antes de firmar, el servidor fija una representación 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0A529-D9E5-4790-AA84-4AF0B258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7831E-6405-40F7-9D4E-0E604AA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950BA-3F55-4DB0-9F77-B39516FF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76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C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71520-1B82-429B-94F8-F1E33F3A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76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BE9DE-4F4E-478C-9F2E-5221632D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E77AE-B3C4-4154-AD1E-E7FAA753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A2D6C-71ED-409F-8D42-55C21114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0A7D0-1CA9-42CF-B873-49EE32AB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431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CDD3"/>
                </a:solidFill>
                <a:latin typeface="Aptos"/>
                <a:ea typeface="Aptos"/>
                <a:cs typeface="Aptos"/>
              </a:rPr>
              <a:t>server/index.ts · canonicalize()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69DBD-422C-4479-83E9-24504F75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DDF7D-5CDB-41DA-A7B9-CEFA254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95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function canonicalize(value: CredentialPayload)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05052-44E2-4347-800A-5A5636C8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DBABF-A523-46A4-AA53-180B1EBC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812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return JSON.stringify({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26C95-F23D-48DB-91CB-4A74091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45129-571A-4817-B57B-F687FBB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  claims: value.claims,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1E2DF-81A3-4D2A-A6F4-506BC27A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88533-5916-4470-BDBF-8F7F4BC6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527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  expiresAt: value.expiresAt,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DE17B-88ED-4A99-B90B-53447C4F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F3457-3BD1-40F2-B652-4E7B59E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38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  holder: value.holder,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3B57D-3BCC-4FF3-AC95-85C5135F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86177-78A3-47E1-AF0F-0AF1BB0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242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  id: value.id, issuer: value.issuer,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E9D32-1E6D-450E-8D31-E6C50B7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8BF6B-392C-4E33-8974-882764E5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  issuedAt: value.issuedAt, type: value.type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0D143-6D25-46E7-BEC6-5B87635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5049C-4819-41EF-BE8D-5B82DB5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957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})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B59B1-7797-45C5-8404-72FF5F87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F5122-045B-44A8-A41C-AFF53DF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2CEF6-336A-407A-A6DC-C72DD79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MISMO DATO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1FD27-23EA-45F1-A18E-662AFB4B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Mismos bytes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89F37-95A3-4F38-81A2-75A6222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0050" y="3333750"/>
            <a:ext cx="3057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E8957-8F16-4BE8-A188-C459F456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Si se cambia un claim, la firma deja de coincidir.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C32972-6D46-4C22-BD35-E3790DA3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El orden explícito evita que firmante y verificador serialicen distinto.</a:t>
            </a:r>
          </a:p>
        </p:txBody>
      </p:sp>
    </p:spTree>
    <p:extLst>
      <p:ext uri="{BB962C8B-B14F-4D97-AF65-F5344CB8AC3E}">
        <p14:creationId xmlns:p14="http://schemas.microsoft.com/office/powerpoint/2010/main" val="19870931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4FD895-B5EE-4863-9362-5C084B3B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14 · IMPLEMENTACIÓN · EMISIÓN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5330-442D-4F69-A8DD-37A8101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El emisor firma el payload con su clave privada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1C61A-E2A1-480B-9396-F69A7983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2F047-10A8-4C65-9F34-028AB152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A5D08-8EAA-4557-A12E-1E3138F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762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C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910A2-D5B0-4B7F-9F4D-73CBAD55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76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5D319-7748-43A4-9639-A632B5A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E28EF-7F05-4324-A24A-0E775C37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55D4A-D93F-4851-AEB1-9CB25F22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E8900-A371-4360-BA9D-66D2E05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431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CDD3"/>
                </a:solidFill>
                <a:latin typeface="Aptos"/>
                <a:ea typeface="Aptos"/>
                <a:cs typeface="Aptos"/>
              </a:rPr>
              <a:t>server/index.ts · signCredential()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35262-9BBE-44AC-80C3-C1239CED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2A576-4D56-4FB6-9574-10DAA45D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95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function signCredential(payload)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64FEC-DD69-466A-BE11-8B568426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A358C-A9C4-4E74-B21F-9C80D653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812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const signature = sign(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824E8-66D5-4720-9BD9-EEB8DE62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7DCF0-D658-4401-8EB0-8F988D6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  null,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5B066-B565-4EE9-B0BA-0C287DC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4F391-DCF6-4178-B852-74DFB326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527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0C75E"/>
                </a:solidFill>
                <a:latin typeface="Menlo"/>
                <a:ea typeface="Menlo"/>
                <a:cs typeface="Menlo"/>
              </a:rPr>
              <a:t>    Buffer.from(canonicalize(payload)),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9B6E6-6745-406B-A409-86C62B85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14ACB-4E6A-4488-AA92-6CD27637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38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05A37"/>
                </a:solidFill>
                <a:latin typeface="Menlo"/>
                <a:ea typeface="Menlo"/>
                <a:cs typeface="Menlo"/>
              </a:rPr>
              <a:t>    issuerPrivateKey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3D038-8AAD-4CBF-836D-33A659A8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0C6C0-064D-43E4-9A07-FEFE46CF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242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).toString("base64url")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D07D7-CCD3-4A40-B024-56B8DBD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BB155-6FDC-40B4-99B7-D47415A2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return { ...payload, proof: {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BDC6F-4C89-47FD-8CE5-FB3374A8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0A831-0B2A-49C0-B8EA-AAF602B7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957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  algorithm: "Ed25519", signature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5056D-B39F-45C4-9BDF-58C2AB88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03FEB4-D76F-47A2-B1D2-3AAA389F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19CB5-A89D-4C3C-B8CA-CA03D0E4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67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F3797-F004-4AFC-B4A8-3C07CE3F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3D255-7EC5-41DB-9901-C021B40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ENTRADA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FCDDE-28BF-4F04-8F1C-2B5F2FDD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Payload fijo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2FA298-84B7-47D2-9E4F-666D41C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52775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2A442-038B-444D-9B87-85A2E33F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CLAVE PRIVADA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4F2C44-CFB8-49E9-A4F4-F2AD099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766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Solo en el emisor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940D3A-7919-480D-A287-A7DC666F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68EDFD-7B8F-4843-BC5C-FD34F4B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01B4E5-B980-45E9-AC2B-26489F1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Payload + proof</a:t>
            </a:r>
          </a:p>
        </p:txBody>
      </p:sp>
    </p:spTree>
    <p:extLst>
      <p:ext uri="{BB962C8B-B14F-4D97-AF65-F5344CB8AC3E}">
        <p14:creationId xmlns:p14="http://schemas.microsoft.com/office/powerpoint/2010/main" val="5499766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F7681-D045-4938-8E45-134D3467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15 · IMPLEMENTACIÓN · VERIFICACIÓN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FE8A1-B003-4DFB-9978-B361AB1B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clave pública permite aceptar o rechazar la firma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AE8E0-4631-420E-BEB6-354BC2C2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D8EFA-1AB3-4A16-9E1D-4AE6C764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4D671-E1D2-4B56-8DD2-88ADD97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762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C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6D8B8-1A8A-4B21-BB64-40E849F8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76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40309-6A45-4C35-8E59-003CEAF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D02C9-00E3-4A52-82CF-46BF06DA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5E76C-946E-4143-AD57-7DC046F4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CCF82-EEBA-4C88-9F29-F24D30E3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574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CDD3"/>
                </a:solidFill>
                <a:latin typeface="Aptos"/>
                <a:ea typeface="Aptos"/>
                <a:cs typeface="Aptos"/>
              </a:rPr>
              <a:t>server/index.ts · verify()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D8F88-9C89-4FBC-BF68-ABA9AAAE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BE25C-10D4-430F-9CE7-9E87AA3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98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const ok = verify(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A696E-DAC8-489A-B5F3-0366C9A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92BE5-F85C-45C7-960A-28B5621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955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  null,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BFDB9-DBC4-49D3-A414-7BED2FAA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E351D-9A24-44A6-BDBE-447012BE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813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0C75E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0C75E"/>
                </a:solidFill>
                <a:latin typeface="Menlo"/>
                <a:ea typeface="Menlo"/>
                <a:cs typeface="Menlo"/>
              </a:rPr>
              <a:t>  Buffer.from(canonicalize(payload)),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28740-6ABB-44A0-A3D7-4B5A2B2D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40481-6A65-4948-B426-30ECF78E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issuerPublicKey,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19E61-3054-4ABE-ACA7-2B0AAC1E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90270-BCD8-4D83-8F22-72EE321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ED8A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9ED8A5"/>
                </a:solidFill>
                <a:latin typeface="Menlo"/>
                <a:ea typeface="Menlo"/>
                <a:cs typeface="Menlo"/>
              </a:rPr>
              <a:t>  Buffer.from(proof.signature, "base64url")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F4B9E-83ED-475C-A227-EADC198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318B7-6216-4E4C-9652-CBA96A46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385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EF0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EF0F2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67967-2A7B-4347-B197-09D0D282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defPPr>
            <a:lvl1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1pPr>
            <a:lvl2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2pPr>
            <a:lvl3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3pPr>
            <a:lvl4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4pPr>
            <a:lvl5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5pPr>
            <a:lvl6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6pPr>
            <a:lvl7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7pPr>
            <a:lvl8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8pPr>
            <a:lvl9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37B86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37B8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21CB5-8F58-4F9A-8683-574021B6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243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05A37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05A37"/>
                </a:solidFill>
                <a:latin typeface="Menlo"/>
                <a:ea typeface="Menlo"/>
                <a:cs typeface="Menlo"/>
              </a:rPr>
              <a:t>if (!ok) rejectCredential()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9DA2D-85AA-4DC4-9C75-A906C73A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VALIDA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FC683-ADD1-46AD-B342-EC680B1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527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Los bytes firmados</a:t>
            </a:r>
          </a:p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y la clave coinciden.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0D2C1-3FB8-4D89-B6A6-83947683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58150" y="3695700"/>
            <a:ext cx="302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57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EFFC4F-971B-4F8B-88B0-A936A37B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719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No contesta por sí sola si fue revocada después.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C4DF6-3B28-4293-AD59-6CBE94C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En la demo también se consulta el estado actual en SQLite.</a:t>
            </a:r>
          </a:p>
        </p:txBody>
      </p:sp>
    </p:spTree>
    <p:extLst>
      <p:ext uri="{BB962C8B-B14F-4D97-AF65-F5344CB8AC3E}">
        <p14:creationId xmlns:p14="http://schemas.microsoft.com/office/powerpoint/2010/main" val="20870383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7F755-D1EB-4140-B157-22C7153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16 · EMISIÓN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19B7C-31E0-447C-8248-47BCF20D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institución define qué afirma la credencial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A2FCC-FDB8-427B-B1D5-F19488D0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10ADB-5678-47DE-8422-5EC28083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F5D2-58E3-4F37-8EF5-D4E3D19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89171-F0F8-440E-B190-CD8DB7DE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Nota académica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E9F18-3978-405A-8BDB-3EA10991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TITULAR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0DD51-E5D3-4BC2-B558-B7700CB0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Identificador institucional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D60E5-9DB6-4831-9F2A-184B67C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97598-2E3B-4220-84E9-285F027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Materia · calificación · fecha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3A7B3-5366-4E50-A29A-7949035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86175"/>
            <a:ext cx="781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0D01E-EFBD-4C8E-986B-C9354D0C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PAYLOAD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55EB4-C03A-4E8D-BF07-EF0BE10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44958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2E186-DDFB-4820-9620-1FDCA59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39243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5171A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5171A"/>
                </a:solidFill>
                <a:latin typeface="Menlo"/>
                <a:ea typeface="Menlo"/>
                <a:cs typeface="Menlo"/>
              </a:rPr>
              <a:t>  "type": "Nota",</a:t>
            </a:r>
          </a:p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5171A"/>
                </a:solidFill>
                <a:latin typeface="Menlo"/>
                <a:ea typeface="Menlo"/>
                <a:cs typeface="Menlo"/>
              </a:rPr>
              <a:t>  "holder": "…",</a:t>
            </a:r>
          </a:p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5171A"/>
                </a:solidFill>
                <a:latin typeface="Menlo"/>
                <a:ea typeface="Menlo"/>
                <a:cs typeface="Menlo"/>
              </a:rPr>
              <a:t>  "claims": { "nota": 8 }</a:t>
            </a:r>
          </a:p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5171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C1360-23BC-43D1-AEEE-AD79ABEE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910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La firma cubre el contenido y metadatos relevantes.</a:t>
            </a:r>
          </a:p>
        </p:txBody>
      </p:sp>
    </p:spTree>
    <p:extLst>
      <p:ext uri="{BB962C8B-B14F-4D97-AF65-F5344CB8AC3E}">
        <p14:creationId xmlns:p14="http://schemas.microsoft.com/office/powerpoint/2010/main" val="11171184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4F00F-CAC4-491F-8C70-840CFE9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17 · BILLETERA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889C4-85FB-496B-9864-C3F90745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aplicación guarda la credencial y la presenta bajo control del titular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A3D7A-02E6-4EA3-A6E7-5F2BD125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E180F-5139-4665-BD0B-644F029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002D3-0AC8-4BD1-8AFA-BB17A73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9F027-B2E2-4FF1-97B3-19FD9A0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Escanea el QR</a:t>
            </a:r>
          </a:p>
          <a:p xmlns:a="http://schemas.openxmlformats.org/drawingml/2006/main">
            <a: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de entrega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0AD90-DFF8-4CDA-802F-06D80D60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781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21FE7-3C78-47E8-AFB6-02D6D21E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76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COMPROBAR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2630D-22D3-4127-A11F-0F5CE09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384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Firma del emisor</a:t>
            </a:r>
          </a:p>
          <a:p xmlns:a="http://schemas.openxmlformats.org/drawingml/2006/main">
            <a:pPr algn="l">
              <a:defRPr sz="21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antes de guardar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D6A99-E80B-4151-96DE-DC29C1E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781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8662F-4178-4776-B1BF-AB78F7B9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764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B8A9F-2022-4446-BBE7-16557BAC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3842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Aceptar o rechazar</a:t>
            </a:r>
          </a:p>
          <a:p xmlns:a="http://schemas.openxmlformats.org/drawingml/2006/main">
            <a:pPr algn="l">
              <a:defRPr sz="19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una solicitud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9DB6A-91E8-499A-81E6-F0562A0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4000500"/>
            <a:ext cx="10439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86D22-922F-401B-8DBF-28643E9A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Una presentación puede revelar un atributo puntual, por ejemplo “nota: 8”.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E140D-D903-4E43-A8CB-30EA474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Los datos guardados no están cifrados por la firma; la firma detecta cambios.</a:t>
            </a:r>
          </a:p>
        </p:txBody>
      </p:sp>
    </p:spTree>
    <p:extLst>
      <p:ext uri="{BB962C8B-B14F-4D97-AF65-F5344CB8AC3E}">
        <p14:creationId xmlns:p14="http://schemas.microsoft.com/office/powerpoint/2010/main" val="9147143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4ABF1-8BD7-4C26-9481-ECC6AEF2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18 · CONSENTIMIENTO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CB137-C2E5-4C82-861A-1B87DFB8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El QR abre un pedido temporal; no transporta la nota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2D14A-72FA-49C4-9E08-1D66EB69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D2235-89CF-4C0A-962D-23061CE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505D3-AB42-410C-BF2A-78F1102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DOCENTE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606FF-53F4-416E-9C11-7004298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Solicita una materia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E2580-2AC4-4CC4-BD76-5344579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225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35CB5-0CA5-4FD4-A979-40EAA409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50CDC-CC04-4765-9209-0B20C4C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ID aleatorio</a:t>
            </a:r>
          </a:p>
          <a:p xmlns:a="http://schemas.openxmlformats.org/drawingml/2006/main">
            <a: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+ vencimiento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36C1B-611F-44C2-82A1-4D45428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5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97E1A-2C6A-44AD-8EB2-6367575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ESTUDIANTE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7A960-A52E-48BC-8AAA-DED49C18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Ve el pedido</a:t>
            </a:r>
          </a:p>
          <a:p xmlns:a="http://schemas.openxmlformats.org/drawingml/2006/main">
            <a: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y da permiso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BB8A-83A7-4CFC-97BF-C7922B0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4875" y="3943350"/>
            <a:ext cx="10315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36E51-562A-4867-B9D3-A08CB3D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985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El servidor consume la solicitud una sola vez y revisa el vencimiento.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AE998-E909-4BAE-94A9-AD01893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Capturar el QR no da acceso a una credencial sin aprobación del estudiante.</a:t>
            </a:r>
          </a:p>
        </p:txBody>
      </p:sp>
    </p:spTree>
    <p:extLst>
      <p:ext uri="{BB962C8B-B14F-4D97-AF65-F5344CB8AC3E}">
        <p14:creationId xmlns:p14="http://schemas.microsoft.com/office/powerpoint/2010/main" val="735728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E047B-A619-4209-9127-464C7F18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19 · ASISTENCIA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5ADB1-EE95-4FD2-8938-2BBCC1FB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La asistencia usa una sesión temporal y una prueba firmada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1FB40-DC69-41B3-ADF2-FB18D66B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FC651-D90B-4B2A-A04D-08558C2A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E2C8B-D51C-41A1-B3E4-32715CA6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61ACF-C335-45F7-8FBC-DE75E37D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2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DOCENTE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49978-AA1A-42A1-BC4A-828BB37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71A"/>
                </a:solidFill>
                <a:latin typeface="Aptos"/>
                <a:ea typeface="Aptos"/>
                <a:cs typeface="Aptos"/>
              </a:rPr>
              <a:t>Abre la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B4A18-A22D-43B5-80DA-772B7445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9650" y="257175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8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F6197-5A52-4972-B0FB-F9CAE483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EDB72-90F8-4C5C-A740-E28E234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3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ESTUDIANTE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BDFDF-0183-4D18-902D-7B4441B8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71A"/>
                </a:solidFill>
                <a:latin typeface="Aptos"/>
                <a:ea typeface="Aptos"/>
                <a:cs typeface="Aptos"/>
              </a:rPr>
              <a:t>Firma el desafío con su clave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E57E2-1A27-4A37-B861-3626F349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9650" y="33528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8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38BC5-6D5F-42C9-9E7C-5B67F6B6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88A1-825F-4E14-9F9F-2A71EEE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C5570-60F5-469D-8335-E0216C80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76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71A"/>
                </a:solidFill>
                <a:latin typeface="Aptos"/>
                <a:ea typeface="Aptos"/>
                <a:cs typeface="Aptos"/>
              </a:rPr>
              <a:t>Comprueba solicitud y firma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1D6B3-6C3A-4B43-8636-AF908FA3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9650" y="413385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8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46E26-8F7E-4662-AAFF-3DB400C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532F6-3A94-4076-A5CD-658D169E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PLANILLA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DE0A8-3D57-4AC3-BCF5-45FDE9FA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Marca presente (P)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8FB75-0A26-4A2A-A6E1-C773402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068"/>
                </a:solidFill>
                <a:latin typeface="Aptos"/>
                <a:ea typeface="Aptos"/>
                <a:cs typeface="Aptos"/>
              </a:rPr>
              <a:t>La restricción UNIQUE(session_id, holder) evita dos registros del mismo titular.</a:t>
            </a:r>
          </a:p>
        </p:txBody>
      </p:sp>
    </p:spTree>
    <p:extLst>
      <p:ext uri="{BB962C8B-B14F-4D97-AF65-F5344CB8AC3E}">
        <p14:creationId xmlns:p14="http://schemas.microsoft.com/office/powerpoint/2010/main" val="9724830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1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16E60-1E1C-44C5-8942-622448E3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20 · VIGENCIA Y 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5E346-2FEE-46A9-B7F3-5D801761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Firma válida y credencial vigente son comprobaciones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BF83F-4F86-401D-80F3-348C1052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F1B0C-F97C-49D4-8516-33B08B0F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29F4F-9B98-4DE7-BA78-3F919A4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57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57D5"/>
                </a:solidFill>
                <a:latin typeface="Aptos"/>
                <a:ea typeface="Aptos"/>
                <a:cs typeface="Aptos"/>
              </a:rPr>
              <a:t>FIRMA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923C7-71B9-4163-99C1-A2F950E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¿Los datos cambiaron?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C5C48-F145-4BD0-BA4D-2BD84531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Clave pública · verificación criptográfica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7CE47-5793-4E90-9E8C-2B7F9A99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526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F7B2D-1839-46A4-A8C9-5BA6CBAA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432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¿Sigue activa hoy?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CEDE0-7686-4582-A5D0-230C6A9D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76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C6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068"/>
                </a:solidFill>
                <a:latin typeface="Aptos"/>
                <a:ea typeface="Aptos"/>
                <a:cs typeface="Aptos"/>
              </a:rPr>
              <a:t>SQLite · consulta a la API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9A05E-FA68-4CCC-83DB-F40A268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4114800"/>
            <a:ext cx="10372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8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962F7-096C-4576-930B-5F8A2BEC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17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171A"/>
                </a:solidFill>
                <a:latin typeface="Aptos"/>
                <a:ea typeface="Aptos"/>
                <a:cs typeface="Aptos"/>
              </a:rPr>
              <a:t>Offline completo requiere una lista de revocación firmada, fechada y reciente.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46359-36FE-454E-90A5-D54976A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Si el estado está desactualizado, el resultado debería ser “desconocido”.</a:t>
            </a:r>
          </a:p>
        </p:txBody>
      </p:sp>
    </p:spTree>
    <p:extLst>
      <p:ext uri="{BB962C8B-B14F-4D97-AF65-F5344CB8AC3E}">
        <p14:creationId xmlns:p14="http://schemas.microsoft.com/office/powerpoint/2010/main" val="782956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DB93B-3CCC-4224-8AC9-EF77990C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21 · DEMO · CINCO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0E57F-6804-4F23-99CB-4163CD23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4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demostración recorre una nota, un consentimiento y una asistencia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C15E1-08DB-4726-B887-B63FA85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5716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6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4B911-6AFF-461D-93F3-D497DA8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734B-65D1-433B-8894-562BBABA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FBACB-838B-4DA3-B293-460E53F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Mac · emisor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A6DB-5C63-4F05-8310-ECEC6EBA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Emitir nota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1E4A-381D-4633-84EA-3131A2AF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57300" y="2314575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D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AB7BA-0AD6-4130-BC3F-09FB17D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01:00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88562-2093-4867-88AA-D4522708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Android · alumno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A3FB5-C835-43A3-BED3-DFB84987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 credencial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4E397-2E7E-4016-A86A-76FE517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57300" y="302895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D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3E56E-CEB8-400B-BC1A-1BD7FB7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82A12-CFBB-419A-B4EF-90AD8AA2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Mac · docente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AE671-2C13-4CA2-895C-AC81EFE2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Solicitar atributo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26E4F-98B9-4463-B439-ED1E991C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57300" y="3743325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D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C75AC-ADE2-40CF-BE3A-59C3AF0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03:00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221B9-92E2-4813-93FD-7719187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43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Android · alumno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9C96A-3612-41DA-A142-DE570024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Revisar y aceptar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B315F-0E7E-4DBE-8367-20F0E470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57300" y="445770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D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F3ACC-85DC-4C95-B4DC-1BC544F3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05A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37"/>
                </a:solidFill>
                <a:latin typeface="Aptos"/>
                <a:ea typeface="Aptos"/>
                <a:cs typeface="Aptos"/>
              </a:rPr>
              <a:t>04:00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B8901-4DB2-4791-B943-9811A086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5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8E1D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E1D7"/>
                </a:solidFill>
                <a:latin typeface="Aptos"/>
                <a:ea typeface="Aptos"/>
                <a:cs typeface="Aptos"/>
              </a:rPr>
              <a:t>API · planilla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FD91B-6D71-4A07-9349-659847A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Registrar asistencia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6A7ED-D8AB-4E2E-B28A-0C06EBA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9CD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CDD3"/>
                </a:solidFill>
                <a:latin typeface="Aptos"/>
                <a:ea typeface="Aptos"/>
                <a:cs typeface="Aptos"/>
              </a:rPr>
              <a:t>Plan alternativo: perfiles y códigos preparados si la red se interrumpe.</a:t>
            </a:r>
          </a:p>
        </p:txBody>
      </p:sp>
    </p:spTree>
    <p:extLst>
      <p:ext uri="{BB962C8B-B14F-4D97-AF65-F5344CB8AC3E}">
        <p14:creationId xmlns:p14="http://schemas.microsoft.com/office/powerpoint/2010/main" val="21311632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5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B40B7-C871-48A9-A131-B53F8F41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BILLETERA UNIVERSITARIA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C91E1-EC80-4074-BC0E-2354938F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confianza se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puede comprobar.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DC54-C481-403A-A2B1-0B9DE5B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" y="3810000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54289-26A2-43B0-A4C7-B6F82AC3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emisor firma.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3B0D-A9A3-4CD7-9EA6-DEE6414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957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estudiante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835C5-548C-4220-BB2D-47BB632C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957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verificador comprueba.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8C719-E063-4D7E-ADFC-2CB6948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Mariano Arias Simone  ·  Nahuel Peralta Herrera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7F44C-9BE8-43B2-8264-C0A05814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E6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E6DF"/>
                </a:solidFill>
                <a:latin typeface="Aptos"/>
                <a:ea typeface="Aptos"/>
                <a:cs typeface="Aptos"/>
              </a:rPr>
              <a:t>UNLaR · Ingeniería en Sistemas de Información</a:t>
            </a:r>
          </a:p>
        </p:txBody>
      </p:sp>
    </p:spTree>
    <p:extLst>
      <p:ext uri="{BB962C8B-B14F-4D97-AF65-F5344CB8AC3E}">
        <p14:creationId xmlns:p14="http://schemas.microsoft.com/office/powerpoint/2010/main" val="229375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2026-10-22T01:22:42.8330000Z</dcterms:created>
  <dcterms:modified xsi:type="dcterms:W3CDTF">2026-10-22T01:22:42.8330000Z</dcterms:modified>
</coreProperties>
</file>